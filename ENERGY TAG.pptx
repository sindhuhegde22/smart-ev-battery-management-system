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1"/>
  </p:notesMasterIdLst>
  <p:handoutMasterIdLst>
    <p:handoutMasterId r:id="rId22"/>
  </p:handoutMasterIdLst>
  <p:sldIdLst>
    <p:sldId id="410" r:id="rId5"/>
    <p:sldId id="383" r:id="rId6"/>
    <p:sldId id="391" r:id="rId7"/>
    <p:sldId id="397" r:id="rId8"/>
    <p:sldId id="407" r:id="rId9"/>
    <p:sldId id="408" r:id="rId10"/>
    <p:sldId id="411" r:id="rId11"/>
    <p:sldId id="412" r:id="rId12"/>
    <p:sldId id="406" r:id="rId13"/>
    <p:sldId id="405" r:id="rId14"/>
    <p:sldId id="404" r:id="rId15"/>
    <p:sldId id="414" r:id="rId16"/>
    <p:sldId id="413" r:id="rId17"/>
    <p:sldId id="415" r:id="rId18"/>
    <p:sldId id="416" r:id="rId19"/>
    <p:sldId id="39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autoAdjust="0"/>
  </p:normalViewPr>
  <p:slideViewPr>
    <p:cSldViewPr snapToGrid="0">
      <p:cViewPr varScale="1">
        <p:scale>
          <a:sx n="82" d="100"/>
          <a:sy n="82" d="100"/>
        </p:scale>
        <p:origin x="72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6/15/2024</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10:19.476"/>
    </inkml:context>
    <inkml:brush xml:id="br0">
      <inkml:brushProperty name="width" value="0.35" units="cm"/>
      <inkml:brushProperty name="height" value="0.35" units="cm"/>
      <inkml:brushProperty name="color" value="#FFFFFF"/>
    </inkml:brush>
  </inkml:definitions>
  <inkml:trace contextRef="#ctx0" brushRef="#br0">6 743 24575,'0'-4'0,"-4"-2"0,2-4 0,25-18 0,38-22 0,31-20 0,89-42 0,52-7 0,22 18-983,-15 20 719,-16 25 264,-26 17-362,-28 16 362,-12 6 0,-24 7 0,-31 1 0,-28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10:49.94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11:01.391"/>
    </inkml:context>
    <inkml:brush xml:id="br0">
      <inkml:brushProperty name="width" value="0.35" units="cm"/>
      <inkml:brushProperty name="height" value="0.35" units="cm"/>
      <inkml:brushProperty name="color" value="#FFFFFF"/>
    </inkml:brush>
  </inkml:definitions>
  <inkml:trace contextRef="#ctx0" brushRef="#br0">0 156 24575,'0'-1'0,"1"1"0,-1-1 0,0 0 0,0 0 0,1 1 0,-1-1 0,1 0 0,-1 0 0,1 1 0,-1-1 0,1 0 0,-1 1 0,1-1 0,-1 1 0,1-1 0,0 1 0,-1-1 0,1 1 0,0-1 0,0 1 0,-1-1 0,1 1 0,1-1 0,23-6 0,-18 5 0,57-16 0,109-14 0,68 7 0,69 20 0,-180 7 0,-124-3 0,-3 1 0,0 0 0,0 0 0,0 0 0,0 0 0,1 0 0,-1 0 0,0 1 0,0 0 0,0-1 0,0 1 0,-1 0 0,1 0 0,0 1 0,4 2 0,-7-4 0,0 1 0,0 0 0,0 0 0,0 0 0,0-1 0,0 1 0,0 0 0,0 0 0,0-1 0,-1 1 0,1 0 0,0 0 0,0-1 0,-1 1 0,1 0 0,-1-1 0,1 1 0,-1 0 0,1-1 0,-1 1 0,1-1 0,-1 1 0,1-1 0,-1 1 0,0-1 0,1 1 0,-1-1 0,0 0 0,1 1 0,-2 0 0,-23 14 0,2-4 0,-1-1 0,0-1 0,-1-2 0,-26 6 0,-104 11 0,53-16 0,-134-7 0,246-1 0,0-1 0,-1-1 0,1 0 0,13-5 0,10-1 0,85-16 0,355-57 0,-353 78 0,-17 1 0,-75-2 0,0-1 0,39-12 0,-40 10 0,-1 0 0,53-5 0,207 13 0,-280 0 0,-1-1 0,1 1 0,-1-1 0,0 2 0,1-1 0,5 2 0,-11-2 0,1-1 0,-1 0 0,1 1 0,-1-1 0,1 0 0,-1 1 0,1-1 0,-1 0 0,1 1 0,-1-1 0,1 1 0,-1-1 0,0 1 0,1-1 0,-1 1 0,0-1 0,1 1 0,-1 0 0,0-1 0,0 1 0,1-1 0,-1 2 0,0-1 0,0 1 0,-1-1 0,1 0 0,0 1 0,-1-1 0,1 0 0,-1 0 0,1 1 0,-1-1 0,0 0 0,1 0 0,-1 0 0,0 0 0,0 0 0,-1 1 0,-9 9 0,-1-1 0,1 0 0,-2-1 0,1 0 0,-18 8 0,-75 34 0,57-29 0,4 1 0,18-10 0,-50 20 0,68-31 0,0 1 0,0-1 0,0-1 0,0 1 0,-1-1 0,1-1 0,0 0 0,-1 0 0,1-1 0,-16-2 0,-152-51 0,59 17 0,91 26 0,16 3 0,10 8 0,0 0 0,1-1 0,-1 1 0,0 0 0,0-1 0,0 1 0,0 0 0,0-1 0,0 1 0,0 0 0,0 0 0,1-1 0,-1 1 0,0 0 0,0 0 0,0-1 0,1 1 0,-1 0 0,0 0 0,0-1 0,1 1 0,-1 0 0,0 0 0,0 0 0,1 0 0,-1 0 0,0-1 0,1 1 0,-1 0 0,0 0 0,0 0 0,1 0 0,-1 0 0,0 0 0,1 0 0,20-4 0,0 0 0,0 2 0,1 0 0,41 3 0,-20 0 0,117 2 0,131-5 0,-254-2 0,60-16 0,15-2 0,-15 9 0,-38 5 0,88-3 0,820 12 0,-923 2 0,0 1 0,62 15 0,-55-9 0,62 4 0,385-10 0,-264-6 0,75-14 0,-137 8 0,-49 5 0,-32-9 0,14 0 0,381 10 0,-251 3 0,-228-1 0,1 1 0,0-1 0,0 1 0,-1 0 0,10 3 0,-16-4 0,0 1 0,0-1 0,0 1 0,0-1 0,0 0 0,0 1 0,0 0 0,-1-1 0,1 1 0,0 0 0,0-1 0,0 1 0,-1 0 0,1 0 0,0-1 0,-1 1 0,1 0 0,-1 0 0,1 1 0,-1-1 0,1 1 0,-1-1 0,0 0 0,-1 1 0,1-1 0,0 0 0,0 0 0,0 1 0,-1-1 0,1 0 0,-1 0 0,1 1 0,-1-1 0,1 0 0,-1 0 0,0 0 0,1 0 0,-1 0 0,0 0 0,-1 1 0,-7 9 0,-1-1 0,-1 0 0,1 0 0,-2-1 0,1-1 0,-23 13 0,-83 35 0,49-26 0,43-20 0,0-1 0,-1-1 0,0-2 0,0 0 0,0-2 0,-1-1 0,0-1 0,-47-2 0,32 2 0,-46 7 0,-19 2 0,-334-22 0,88-2 0,-1144 15 0,794-3 0,644-2 167,-110-20 0,-23-3-1866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6-15T03:11:41.659"/>
    </inkml:context>
    <inkml:brush xml:id="br0">
      <inkml:brushProperty name="width" value="0.35" units="cm"/>
      <inkml:brushProperty name="height" value="0.35" units="cm"/>
      <inkml:brushProperty name="color" value="#339933"/>
      <inkml:brushProperty name="ignorePressure" value="1"/>
    </inkml:brush>
  </inkml:definitions>
  <inkml:trace contextRef="#ctx0" brushRef="#br0">1 0,'8318'0,"-8303"0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23:44.271"/>
    </inkml:context>
    <inkml:brush xml:id="br0">
      <inkml:brushProperty name="width" value="0.35" units="cm"/>
      <inkml:brushProperty name="height" value="0.35" units="cm"/>
      <inkml:brushProperty name="color" value="#FFFFFF"/>
    </inkml:brush>
  </inkml:definitions>
  <inkml:trace contextRef="#ctx0" brushRef="#br0">0 262 24575,'26'-1'0,"0"-2"0,28-6 0,37-3 0,11 11 0,-62 2 0,0-2 0,65-9 0,55-9 0,-112 16 0,0-3 0,57-13 0,-70 11 0,-1 2 0,1 1 0,37-1 0,107 8 0,-67 0 0,2331-2 0,-2380 4 0,0 3 0,-1 2 0,0 4 0,65 21 0,-81-20 0,-31-8 0,1-1 0,0-1 0,0-1 0,25 3 0,-18-3 0,0 0 0,43 13 0,21 3 0,362 41 0,-231-39 0,427-15 0,-405-16 0,329-7 0,-491 17 0,-48 0 0,-26 1 0,-10-1 0,-193 2 0,-320-5 0,123-34 0,321 28 0,-29 2 0,-128 7 0,95 2 0,-1276-2 0,1343-2 0,-1-3 0,-137-30 0,182 31 0,0 1 0,-37 0 0,36 3 0,0-2 0,-30-6 0,-219-39 0,176 34 0,0 5 0,-159 7 0,116 3 0,110-4 0,-54-9 0,-21-2 0,58 12 0,-40-2 0,-142-21 0,-41-4 0,63 10 0,-2-16 230,-26-4-236,171 31-788,-109 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23:51.313"/>
    </inkml:context>
    <inkml:brush xml:id="br0">
      <inkml:brushProperty name="width" value="0.35" units="cm"/>
      <inkml:brushProperty name="height" value="0.35" units="cm"/>
      <inkml:brushProperty name="color" value="#FFFFFF"/>
    </inkml:brush>
  </inkml:definitions>
  <inkml:trace contextRef="#ctx0" brushRef="#br0">0 623 24575,'54'1'0,"-30"0"0,-1 0 0,0-1 0,0-2 0,0 0 0,0-2 0,45-12 0,-36 6 0,59-12 0,-58 15 0,60-20 0,78-24 0,-21 7 0,243-71 0,-315 94 0,200-33 0,-153 32 0,44-16 0,12-3 0,137-31 0,-200 43 0,-57 7 0,-50 18 0,-1-1 0,1 1 0,0 1 0,0 0 0,0 0 0,1 1 0,-1 1 0,12-1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23:54.656"/>
    </inkml:context>
    <inkml:brush xml:id="br0">
      <inkml:brushProperty name="width" value="0.35" units="cm"/>
      <inkml:brushProperty name="height" value="0.35" units="cm"/>
      <inkml:brushProperty name="color" value="#FFFFFF"/>
    </inkml:brush>
  </inkml:definitions>
  <inkml:trace contextRef="#ctx0" brushRef="#br0">3518 81 24575,'-27'-1'0,"-51"-10"0,-1 0 0,-333 6 0,229 7 0,-2128-2 0,2267-2 0,1-2 0,-71-17 0,69 12 0,1 1 0,-61-2 0,72 10-1365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24:06.606"/>
    </inkml:context>
    <inkml:brush xml:id="br0">
      <inkml:brushProperty name="width" value="0.35" units="cm"/>
      <inkml:brushProperty name="height" value="0.35" units="cm"/>
      <inkml:brushProperty name="color" value="#FFFFFF"/>
    </inkml:brush>
  </inkml:definitions>
  <inkml:trace contextRef="#ctx0" brushRef="#br0">1 600 24575,'53'0'0,"0"-1"0,75-14 0,29-11 0,-87 16 0,-41 7 0,42-11 0,-10-2 0,67-29 0,-96 33 0,-1 2 0,2 1 0,-1 1 0,1 2 0,43-3 0,-57 6 0,0 0 0,0-2 0,20-7 0,-20 5 0,0 2 0,38-7 0,136 8 0,-142 5 0,-1-1 0,1-3 0,69-13 0,46-14 0,22-4 0,-146 26 0,76-4 0,-101 11 0,-105 5 0,-77 8 0,136-8 0,-497 79 0,491-74 0,-45 18 0,19-6 0,-5 4 0,1 2 0,-63 37 0,86-43 0,0-2 0,-86 26 0,39-17 0,152-36 0,-23 0 0,68-4 0,12-1 0,-75 7 0,0 2 0,46 2 0,-56 2 0,1-1 0,0-1 0,-1-2 0,46-12 0,314-62 0,-327 65 0,105-36 0,-10 2 0,-130 39 0,0 2 0,1 2 0,33-1 0,71-7 0,8 0 0,31 13 0,-193-1 0,1 2 0,0 0 0,0 1 0,-16 5 0,-75 26 0,30-9 0,-120 43 0,85-29 0,69-27 0,-64 11 0,-7 0 0,62-9 0,0-3 0,-1-3 0,-103 5 0,239-12 0,0-4 0,-1-4 0,92-19 0,-91 10 0,-46 9 0,0-1 0,40-15 0,169-51 0,-3 19 0,-47 14 0,70-18 0,-156 38 0,-2 0 0,241-103 0,-136 48 0,-109 40 0,-80 28 0,-1 2 0,1 0 0,1 2 0,36-2 0,103 6 0,-82 2 0,-28 1 0,0 3 0,88 21 0,-121-22 0,17-1 0,13 3 0,-49-6 0,1-1 0,-1 1 0,0 0 0,1 0 0,-1 1 0,0-1 0,0 1 0,0-1 0,0 1 0,0 0 0,2 3 0,-4-4 0,0-1 0,0 1 0,0 0 0,-1 0 0,1 0 0,0-1 0,-1 1 0,1 0 0,-1 0 0,1 0 0,-1 0 0,1 0 0,-1 0 0,0 0 0,1 1 0,-1-1 0,0 0 0,0 0 0,0 0 0,0 0 0,0 0 0,0 0 0,0 0 0,0 0 0,0 1 0,-1-1 0,1 0 0,0 0 0,-1 0 0,1 0 0,-1 0 0,1 0 0,-1 0 0,1 0 0,-1 0 0,0-1 0,1 1 0,-1 0 0,0 0 0,0 0 0,0-1 0,1 1 0,-1 0 0,0-1 0,-2 2 0,-5 2 0,-1 1 0,1-1 0,-1-1 0,-12 4 0,18-6 0,-169 48 0,-3-8 0,-251 26 0,313-54 0,-164 27 0,38 9 0,-17 5 0,68-16 0,149-35 0,-66-1 0,444-18 0,-215 6 0,125-17 0,-27 2 0,98-20 0,-111 12 0,-178 29 0,57-8 0,100-1 0,70 12 0,326 4 0,-449 9 0,217 45 0,-295-50 0,1-2 0,0-2 0,65-6 0,-18 0 0,-43 2 0,-21-1 0,-1 2 0,1 2 0,-1 1 0,69 16 0,-107-19 0,0 0 0,0 1 0,-1-1 0,1 1 0,0 0 0,-1-1 0,1 1 0,0 0 0,-1 0 0,1 0 0,-1 0 0,1 0 0,-1 0 0,0 0 0,1 1 0,-1-1 0,0 0 0,0 1 0,0-1 0,0 1 0,1 3 0,-2-4 0,1 1 0,-1 0 0,0 0 0,0 0 0,0 0 0,-1 0 0,1-1 0,0 1 0,-1 0 0,1 0 0,-1 0 0,0-1 0,0 1 0,1 0 0,-1-1 0,0 1 0,-2 1 0,-3 5 0,-1 0 0,0 0 0,-1-1 0,1 0 0,-1 0 0,-11 6 0,-16 6 0,0-1 0,-1-2 0,-70 22 0,67-25 0,18-8 0,-1 0 0,0-1 0,0-1 0,-34 0 0,33-3 0,1 2 0,0 0 0,0 2 0,-29 7 0,25-3 0,-1-1 0,0-2 0,-47 4 0,-81-6 0,120-4 0,14 3 0,-1 0 0,0 1 0,1 2 0,-31 9 0,27-7 0,-2 0 0,-34 3 0,-44-6 0,62-4 0,-60 8 0,13 2 0,-156-4 0,203-7 0,12 3 0,-59 10 0,-13 1 0,63-12 0,5 0 0,0 1 0,-1 1 0,-41 11 0,-96 19 0,15-4 0,48-10 0,-14 4 0,-180 35 0,103-25 0,124-17 0,-1-4 0,-127 4 0,-613-17 0,796-1 0,0 0 0,-32-7 0,-29-4 0,8 5 0,71 7 0,-1 1 0,0-2 0,0 1 0,1 0 0,-1-1 0,1 0 0,-1 0 0,1 0 0,0-1 0,0 1 0,0-1 0,-7-7 0,10 10 0,1-1 0,-1 0 0,1 0 0,-1 0 0,1 0 0,-1 0 0,1 0 0,-1 0 0,1 0 0,0 0 0,0 0 0,-1 0 0,1-1 0,0 1 0,0 0 0,0 0 0,0 0 0,0 0 0,1 0 0,-1 0 0,0 0 0,0 0 0,1 0 0,-1 0 0,1 0 0,-1 0 0,1 0 0,-1 0 0,1 0 0,-1 0 0,1 0 0,0 0 0,0 0 0,-1 1 0,1-1 0,0 0 0,0 1 0,1-2 0,5-3 0,0 1 0,0-1 0,15-6 0,-16 8 0,31-12 0,0 2 0,1 1 0,40-6 0,22-7 0,-73 18 0,0 1 0,0 2 0,44-2 0,86 7 0,-59 2 0,170-19 0,-21-11 0,91-24 0,-316 48 0,66-9 0,0-4 0,141-44 0,-154 34 0,140-58 0,-43 8 0,18-9 0,-149 67 0,0 1 0,2 2 0,0 1 0,72-11 0,27-9 0,-94 21 0,87-13 0,-129 25 0,38-3 0,1-2 0,82-22 0,-109 23-273,1 1 0,1 0 0,-1 1 0,31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31:55.104"/>
    </inkml:context>
    <inkml:brush xml:id="br0">
      <inkml:brushProperty name="width" value="0.35" units="cm"/>
      <inkml:brushProperty name="height" value="0.35" units="cm"/>
      <inkml:brushProperty name="color" value="#FFFFFF"/>
    </inkml:brush>
  </inkml:definitions>
  <inkml:trace contextRef="#ctx0" brushRef="#br0">8003 804 24575,'45'-1'0,"0"-2"0,46-9 0,-1 4 0,157 5 0,-189 4 0,-227-2 0,1-7 0,-244-44 0,48 7 0,1 29 0,-228-22 0,-150-99 0,685 123 0,31 7 0,-1 0 0,0 2 0,0 1 0,-1 1 0,-46 2 0,-39 13 0,-51 2 0,15-11 0,-127 5 0,-523 8 0,601-16 0,-99 12 0,47 1 0,-255-12 0,355-2 0,744 40 0,-426-23 0,970 112-1053,-597-61 710,477 41 138,-1-72 1,-982-38 361,-32 0 11,-6 0 34,-51-9 586,43 9-727,-701-65 330,463 53-517,-174-20-693,-93-23-164,-69-23 0,-738-116-1048,-1187-165-2819,2200 322 4190,238 30 737,-243-24 644,304 32-557,0 0 0,0 1-1,0 0 1,-17 3 0,27-3-151,0 0 0,-1 0 0,1 0 0,0 0 0,0 0 0,-1 0 0,1 0 0,0 0-1,0 0 1,0 0 0,-1 0 0,1 1 0,0-1 0,0 0 0,0 0 0,-1 0 0,1 0 0,0 1 0,0-1 0,0 0 0,0 0 0,-1 0 0,1 1-1,0-1 1,0 0 0,0 0 0,0 0 0,0 1 0,0-1 0,0 0 0,0 0 0,0 1 0,0-1 0,0 0 0,0 0 0,0 1 0,0-1 0,10 10 478,10 2-147,1-2 0,0 0 0,1-2 0,39 11-1,-29-9-96,1172 286 3902,-236-120-5367,249 49-338,-931-167 1728,1156 212-1960,-1405-268 2695,-45-5-610,-53-14 626,-550-76 2279,450 75-3020,-1875-287-1324,1193 139 903,768 149 239,59 10 0,16 7 0,0 0 0,0 0 0,0 0 0,0 0 0,0 0 0,0 0 0,0-1 0,0 1 0,0 0 0,0 0 0,0 0 0,0 0 0,0 0 0,0 0 0,0 0 0,0 0 0,0-1 0,0 1 0,0 0 0,0 0 0,0 0 0,0 0 0,0 0 0,0 0 0,0 0 0,0-1 0,0 1 0,0 0 0,0 0 0,0 0 0,0 0 0,1 0 0,-1 0 0,0 0 0,0 0 0,0 0 0,0 0 0,0 0 0,0 0 0,0 0 0,0-1 0,0 1 0,1 0 0,-1 0 0,0 0 0,0 0 0,0 0 0,0 0 0,0 0 0,0 0 0,0 0 0,1 0 0,-1 0 0,0 0 0,0 0 0,0 0 0,0 0 0,29-2 0,605 15 1909,3 41-2711,-537-45 595,2463 324-977,-2516-325 1181,120 20 86,215 9 0,-371-37 158,0 0-1,-1 0 0,1-1 0,15-3 0,-22 3-187,-1 0 0,0 0 0,0 0 0,0-1 0,0 1 1,0-1-1,0 0 0,0 0 0,-1 0 0,1 0 0,-1 0 0,1-1 0,-1 1 0,0-1 0,0 1 0,0-1 0,2-5 0,22-47-53,-21 40 0,2 1 0,0 0 0,14-22 0,-16 29 0,0 0 0,-1 0 0,0-1 0,0 1 0,-1-1 0,0 0 0,0 0 0,-1 0 0,3-16 0,-5 21 0,1-1 0,-1 1 0,0 0 0,0-1 0,0 1 0,-1 0 0,1-1 0,-1 1 0,0 0 0,0 0 0,0-1 0,0 1 0,-1 0 0,1 0 0,-1 0 0,0 0 0,0 1 0,0-1 0,0 0 0,0 1 0,-1 0 0,1-1 0,-1 1 0,1 0 0,-1 0 0,-5-3 0,-3 1 0,1-1 0,-1 1 0,0 1 0,0 0 0,0 1 0,-1 0 0,-20-1 0,-87 6 0,62 0 0,-439 0 0,338-3 0,145-1 0,1 2 0,-1 0 0,1 0 0,-23 6 0,28-5 0,1 1 0,-1 0 0,0 0 0,1 0 0,0 1 0,0 0 0,0 0 0,1 1 0,-1 0 0,-4 5 0,-24 30 0,2 1 0,2 2 0,-38 71 0,53-87 0,14-25 0,-15 30 0,14-17 0,2-15 0,0 0 0,1 1 0,-1-1 0,0 0 0,0 1 0,0-1 0,1 0 0,-1 0 0,0 1 0,1-1 0,-1 0 0,0 0 0,0 1 0,1-1 0,-1 0 0,0 0 0,1 0 0,-1 0 0,0 1 0,1-1 0,-1 0 0,1 0 0,-1 0 0,0 0 0,1 0 0,-1 0 0,0 0 0,1 0 0,-1 0 0,0 0 0,1 0 0,0-1 0,7-1 0,0 0 0,-1-1 0,1 0 0,-1 0 0,0-1 0,12-8 0,-1 2 0,680-342 0,-349 218-302,-279 109-761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31:56.007"/>
    </inkml:context>
    <inkml:brush xml:id="br0">
      <inkml:brushProperty name="width" value="0.35" units="cm"/>
      <inkml:brushProperty name="height" value="0.35" units="cm"/>
      <inkml:brushProperty name="color" value="#FFFFFF"/>
    </inkml:brush>
  </inkml:definitions>
  <inkml:trace contextRef="#ctx0" brushRef="#br0">0 1 24575,'0'4'0,"0"6"0,0 6 0,5 0 0,5-3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15T03:31:59.416"/>
    </inkml:context>
    <inkml:brush xml:id="br0">
      <inkml:brushProperty name="width" value="0.35" units="cm"/>
      <inkml:brushProperty name="height" value="0.35" units="cm"/>
      <inkml:brushProperty name="color" value="#FFFFFF"/>
    </inkml:brush>
  </inkml:definitions>
  <inkml:trace contextRef="#ctx0" brushRef="#br0">3754 336 24575,'2'1'0,"-1"0"0,0 0 0,1 0 0,-1 0 0,0 0 0,0 1 0,0-1 0,0 0 0,0 1 0,0-1 0,0 0 0,0 1 0,0-1 0,-1 1 0,1 0 0,-1-1 0,1 1 0,-1-1 0,1 3 0,1 3 0,78 245 0,-79-249 0,0 1 0,1 0 0,-1-1 0,1 1 0,0-1 0,0 0 0,0 1 0,0-1 0,1 0 0,-1 0 0,5 3 0,-6-5 0,0 0 0,1 0 0,-1 0 0,1 0 0,-1 0 0,1-1 0,-1 1 0,1 0 0,-1-1 0,1 1 0,-1-1 0,1 1 0,0-1 0,-1 0 0,1 0 0,0 1 0,0-1 0,-1-1 0,1 1 0,0 0 0,-1 0 0,1-1 0,0 1 0,-1 0 0,1-1 0,-1 0 0,1 1 0,2-3 0,5-4 0,-1-1 0,1 0 0,-2 0 0,1-1 0,-1 0 0,-1 0 0,0-1 0,7-14 0,8-9 0,45-64 0,4 3 0,130-132 0,-193 219 0,10-10 0,0-1 0,13-20 0,-25 28 0,-7 9 0,-13 10 0,-138 128 0,144-129 0,-48 50 0,37-37 0,-1 0 0,-1-2 0,-32 24 0,9-16 0,0-2 0,-2-1 0,-1-3 0,0-2 0,-2-2 0,0-2 0,0-2 0,-1-3 0,-55 5 0,-956 39-164,-1239-75-982,2258 20 1146,19 2 0,0-2 0,-46-7 0,69 8-1,0-1 0,0 1 0,0 0 0,0 0 0,0-1 0,0 1 0,0 0 0,0-1 0,0 1 0,0-1 0,0 0 0,0 1 0,0-1 0,0 0 0,0 1 0,-1-3 0,2 3 0,0-1 0,0 1 0,0-1 0,0 1 0,0-1 0,-1 0 0,1 1 0,0-1 0,0 1 0,0-1 0,1 1 0,-1-1 0,0 1 0,0-1 0,0 1 0,0-1 0,0 0 0,1 1 0,-1-1 0,0 1 0,0-1 0,1 0 0,27-24 129,-24 21-52,24-18 88,-1-1 0,-2-1-1,0-2 1,-2 0 0,0-2 0,33-54-1,-23 24-163,-13 21 0,37-51 0,-55 86 0,0-1 0,0 1 0,0 0 0,0-1 0,0 1 0,1 0 0,-1 0 0,0 0 0,1 1 0,0-1 0,-1 1 0,1-1 0,0 1 0,0 0 0,5-1 0,-6 2 0,0 0 0,0 0 0,0 0 0,1 0 0,-1 1 0,0 0 0,0-1 0,0 1 0,0 0 0,0 0 0,0 0 0,0 0 0,0 0 0,-1 0 0,1 0 0,0 1 0,-1-1 0,1 1 0,-1-1 0,1 1 0,-1 0 0,2 3 0,10 16 0,0 1 0,-2 0 0,-1 1 0,0 1 0,-2-1 0,6 30 0,13 31 0,-23-71 0,36 86 0,-35-89 0,0-1 0,0 0 0,1 0 0,0 0 0,0 0 0,1-1 0,13 12 0,-17-18 0,1 0 0,-1 1 0,1-1 0,0 0 0,0 0 0,0-1 0,0 1 0,0-1 0,0 0 0,0 0 0,0-1 0,7 1 0,56-5 0,-65 4 0,356-54 0,-42 5 0,2625-304-3799,-2823 342 3408,541-77-638,-571 67-1943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6/15/2024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2994759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4050233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2350851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dirty="0"/>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dirty="0"/>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dirty="0"/>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2.png"/><Relationship Id="rId5" Type="http://schemas.openxmlformats.org/officeDocument/2006/relationships/customXml" Target="../ink/ink2.xml"/><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customXml" Target="../ink/ink5.xml"/><Relationship Id="rId1" Type="http://schemas.openxmlformats.org/officeDocument/2006/relationships/slideLayout" Target="../slideLayouts/slideLayout7.xml"/><Relationship Id="rId6" Type="http://schemas.openxmlformats.org/officeDocument/2006/relationships/customXml" Target="../ink/ink7.xml"/><Relationship Id="rId5" Type="http://schemas.openxmlformats.org/officeDocument/2006/relationships/image" Target="../media/image6.png"/><Relationship Id="rId4" Type="http://schemas.openxmlformats.org/officeDocument/2006/relationships/customXml" Target="../ink/ink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customXml" Target="../ink/ink10.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4.jpe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816220" y="411479"/>
            <a:ext cx="7613779" cy="3291840"/>
          </a:xfrm>
        </p:spPr>
        <p:txBody>
          <a:bodyPr/>
          <a:lstStyle/>
          <a:p>
            <a:pPr algn="ctr"/>
            <a:r>
              <a:rPr lang="en-US" dirty="0"/>
              <a:t>“ENERGY TAG” </a:t>
            </a:r>
            <a:br>
              <a:rPr lang="en-US" dirty="0"/>
            </a:br>
            <a:r>
              <a:rPr lang="en-US" sz="2000" dirty="0">
                <a:solidFill>
                  <a:srgbClr val="FF0000"/>
                </a:solidFill>
              </a:rPr>
              <a:t>STREAMLINING EV BATTERY PRICING</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957" y="2001320"/>
            <a:ext cx="6788150" cy="4492786"/>
          </a:xfrm>
        </p:spPr>
        <p:txBody>
          <a:bodyPr tIns="457200">
            <a:normAutofit fontScale="85000" lnSpcReduction="20000"/>
          </a:bodyPr>
          <a:lstStyle/>
          <a:p>
            <a:r>
              <a:rPr lang="en-US" dirty="0"/>
              <a:t>Introduction</a:t>
            </a:r>
          </a:p>
          <a:p>
            <a:r>
              <a:rPr lang="en-US" dirty="0"/>
              <a:t>Objectives</a:t>
            </a:r>
          </a:p>
          <a:p>
            <a:r>
              <a:rPr lang="en-US" dirty="0"/>
              <a:t>Need For Battery Management</a:t>
            </a:r>
          </a:p>
          <a:p>
            <a:r>
              <a:rPr lang="en-US" dirty="0"/>
              <a:t>System Requirements</a:t>
            </a:r>
          </a:p>
          <a:p>
            <a:r>
              <a:rPr lang="en-US" dirty="0"/>
              <a:t>Block Diagram</a:t>
            </a:r>
          </a:p>
          <a:p>
            <a:r>
              <a:rPr lang="en-US" dirty="0"/>
              <a:t>Methodology</a:t>
            </a:r>
          </a:p>
          <a:p>
            <a:r>
              <a:rPr lang="en-US" dirty="0"/>
              <a:t>Results And Discussion</a:t>
            </a:r>
          </a:p>
          <a:p>
            <a:r>
              <a:rPr lang="en-US" dirty="0"/>
              <a:t>Future Scope</a:t>
            </a:r>
          </a:p>
          <a:p>
            <a:r>
              <a:rPr lang="en-US" dirty="0"/>
              <a:t>Conclusion</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INTRODUCTION</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1399592"/>
            <a:ext cx="7810500" cy="5066522"/>
          </a:xfrm>
        </p:spPr>
        <p:txBody>
          <a:bodyPr>
            <a:normAutofit/>
          </a:bodyPr>
          <a:lstStyle/>
          <a:p>
            <a:pPr marL="0" indent="0">
              <a:buNone/>
            </a:pPr>
            <a:endParaRPr lang="en-US" dirty="0"/>
          </a:p>
          <a:p>
            <a:r>
              <a:rPr lang="en-US" dirty="0"/>
              <a:t>The rapid growth of electric vehicles (EVs) necessitates efficient battery management. "Energy Tag" aims to streamline EV battery swapping using RFID, voltage sensors, and automation for better user experience and efficiency.</a:t>
            </a:r>
          </a:p>
          <a:p>
            <a:r>
              <a:rPr lang="en-US" dirty="0"/>
              <a:t>Energy Tag introduces dynamic pricing using real-time data from RFID-tagged batteries. This ensures fair pricing based on battery condition, displayed clearly to users.</a:t>
            </a:r>
          </a:p>
          <a:p>
            <a:r>
              <a:rPr lang="en-US" dirty="0"/>
              <a:t>This approach revolutionizes EV infrastructure, promoting sustainability and efficiency in battery management, and supports a cleaner, greener future</a:t>
            </a:r>
          </a:p>
          <a:p>
            <a:r>
              <a:rPr lang="en-US" dirty="0"/>
              <a:t>Hence, Battery swapping reduces downtime by allowing quick battery exchanges.</a:t>
            </a:r>
          </a:p>
          <a:p>
            <a:pPr marL="0" indent="0">
              <a:buNone/>
            </a:pPr>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ctrTitle"/>
          </p:nvPr>
        </p:nvSpPr>
        <p:spPr>
          <a:xfrm>
            <a:off x="3228394" y="542108"/>
            <a:ext cx="8567912" cy="3291840"/>
          </a:xfrm>
        </p:spPr>
        <p:txBody>
          <a:bodyPr/>
          <a:lstStyle/>
          <a:p>
            <a:pPr algn="ctr"/>
            <a:r>
              <a:rPr lang="en-US" sz="3200" dirty="0"/>
              <a:t>THE NEED FOR EFFICIENT BATTERY MANAGEMENT</a:t>
            </a:r>
            <a:br>
              <a:rPr lang="en-US" sz="1800" dirty="0"/>
            </a:br>
            <a:endParaRPr lang="en-US" sz="1800" dirty="0"/>
          </a:p>
        </p:txBody>
      </p:sp>
      <p:sp>
        <p:nvSpPr>
          <p:cNvPr id="3" name="Text Placeholder 2">
            <a:extLst>
              <a:ext uri="{FF2B5EF4-FFF2-40B4-BE49-F238E27FC236}">
                <a16:creationId xmlns:a16="http://schemas.microsoft.com/office/drawing/2014/main" id="{591442CD-A26D-1761-8CE7-8BC3075BB4ED}"/>
              </a:ext>
            </a:extLst>
          </p:cNvPr>
          <p:cNvSpPr>
            <a:spLocks noGrp="1"/>
          </p:cNvSpPr>
          <p:nvPr>
            <p:ph type="body" sz="quarter" idx="11"/>
          </p:nvPr>
        </p:nvSpPr>
        <p:spPr>
          <a:xfrm>
            <a:off x="5057192" y="4260303"/>
            <a:ext cx="6608485" cy="1645920"/>
          </a:xfrm>
        </p:spPr>
        <p:txBody>
          <a:bodyPr>
            <a:normAutofit/>
          </a:bodyPr>
          <a:lstStyle/>
          <a:p>
            <a:pPr marL="342900" indent="-342900">
              <a:buFont typeface="Arial" panose="020B0604020202020204" pitchFamily="34" charset="0"/>
              <a:buChar char="•"/>
            </a:pPr>
            <a:r>
              <a:rPr lang="en-US" sz="2400" i="1" dirty="0"/>
              <a:t>Challenges with fixed pricing models.</a:t>
            </a:r>
          </a:p>
          <a:p>
            <a:pPr marL="342900" indent="-342900">
              <a:buFont typeface="Arial" panose="020B0604020202020204" pitchFamily="34" charset="0"/>
              <a:buChar char="•"/>
            </a:pPr>
            <a:r>
              <a:rPr lang="en-US" sz="2400" i="1" dirty="0"/>
              <a:t>Importance of accounting for battery health and usage in pricing.</a:t>
            </a:r>
            <a:br>
              <a:rPr lang="en-US" sz="2400" dirty="0"/>
            </a:br>
            <a:endParaRPr lang="en-US" dirty="0"/>
          </a:p>
        </p:txBody>
      </p:sp>
    </p:spTree>
    <p:extLst>
      <p:ext uri="{BB962C8B-B14F-4D97-AF65-F5344CB8AC3E}">
        <p14:creationId xmlns:p14="http://schemas.microsoft.com/office/powerpoint/2010/main" val="2039059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123359" y="-395711"/>
            <a:ext cx="4939666" cy="2542810"/>
          </a:xfrm>
        </p:spPr>
        <p:txBody>
          <a:bodyPr/>
          <a:lstStyle/>
          <a:p>
            <a:r>
              <a:rPr lang="en-US" dirty="0"/>
              <a:t>OBJECTIVES</a:t>
            </a:r>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260978" y="2810595"/>
            <a:ext cx="6923681" cy="2760435"/>
          </a:xfrm>
        </p:spPr>
        <p:txBody>
          <a:bodyPr>
            <a:normAutofit/>
          </a:bodyPr>
          <a:lstStyle/>
          <a:p>
            <a:pPr marL="342900" indent="-342900">
              <a:buFont typeface="Arial" panose="020B0604020202020204" pitchFamily="34" charset="0"/>
              <a:buChar char="•"/>
            </a:pPr>
            <a:r>
              <a:rPr lang="en-US" dirty="0"/>
              <a:t>Develop a pricing strategy based on real-time battery data.</a:t>
            </a:r>
          </a:p>
          <a:p>
            <a:pPr marL="342900" indent="-342900">
              <a:buFont typeface="Arial" panose="020B0604020202020204" pitchFamily="34" charset="0"/>
              <a:buChar char="•"/>
            </a:pPr>
            <a:r>
              <a:rPr lang="en-US" dirty="0"/>
              <a:t>Ensure the system is adaptable to varying battery conditions.</a:t>
            </a:r>
          </a:p>
          <a:p>
            <a:pPr marL="342900" indent="-342900">
              <a:buFont typeface="Arial" panose="020B0604020202020204" pitchFamily="34" charset="0"/>
              <a:buChar char="•"/>
            </a:pPr>
            <a:r>
              <a:rPr lang="en-US" dirty="0"/>
              <a:t>Enhance transparency and fairness in battery swapping centers.</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D5930A8D-99E7-C050-C74D-94463A357EA6}"/>
                  </a:ext>
                </a:extLst>
              </p14:cNvPr>
              <p14:cNvContentPartPr/>
              <p14:nvPr/>
            </p14:nvContentPartPr>
            <p14:xfrm>
              <a:off x="7462418" y="5685561"/>
              <a:ext cx="773280" cy="267840"/>
            </p14:xfrm>
          </p:contentPart>
        </mc:Choice>
        <mc:Fallback xmlns="">
          <p:pic>
            <p:nvPicPr>
              <p:cNvPr id="7" name="Ink 6">
                <a:extLst>
                  <a:ext uri="{FF2B5EF4-FFF2-40B4-BE49-F238E27FC236}">
                    <a16:creationId xmlns:a16="http://schemas.microsoft.com/office/drawing/2014/main" id="{D5930A8D-99E7-C050-C74D-94463A357EA6}"/>
                  </a:ext>
                </a:extLst>
              </p:cNvPr>
              <p:cNvPicPr/>
              <p:nvPr/>
            </p:nvPicPr>
            <p:blipFill>
              <a:blip r:embed="rId4"/>
              <a:stretch>
                <a:fillRect/>
              </a:stretch>
            </p:blipFill>
            <p:spPr>
              <a:xfrm>
                <a:off x="7399418" y="5622561"/>
                <a:ext cx="89892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3590B95-B2FD-A463-5108-EBA129EA6C85}"/>
                  </a:ext>
                </a:extLst>
              </p14:cNvPr>
              <p14:cNvContentPartPr/>
              <p14:nvPr/>
            </p14:nvContentPartPr>
            <p14:xfrm>
              <a:off x="5896778" y="1595601"/>
              <a:ext cx="360" cy="360"/>
            </p14:xfrm>
          </p:contentPart>
        </mc:Choice>
        <mc:Fallback xmlns="">
          <p:pic>
            <p:nvPicPr>
              <p:cNvPr id="10" name="Ink 9">
                <a:extLst>
                  <a:ext uri="{FF2B5EF4-FFF2-40B4-BE49-F238E27FC236}">
                    <a16:creationId xmlns:a16="http://schemas.microsoft.com/office/drawing/2014/main" id="{13590B95-B2FD-A463-5108-EBA129EA6C85}"/>
                  </a:ext>
                </a:extLst>
              </p:cNvPr>
              <p:cNvPicPr/>
              <p:nvPr/>
            </p:nvPicPr>
            <p:blipFill>
              <a:blip r:embed="rId6"/>
              <a:stretch>
                <a:fillRect/>
              </a:stretch>
            </p:blipFill>
            <p:spPr>
              <a:xfrm>
                <a:off x="5834138" y="153260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D9BEF20C-ADE2-11DA-6141-4E2DFEB36E25}"/>
                  </a:ext>
                </a:extLst>
              </p14:cNvPr>
              <p14:cNvContentPartPr/>
              <p14:nvPr/>
            </p14:nvContentPartPr>
            <p14:xfrm>
              <a:off x="6372698" y="6260481"/>
              <a:ext cx="2109960" cy="120960"/>
            </p14:xfrm>
          </p:contentPart>
        </mc:Choice>
        <mc:Fallback xmlns="">
          <p:pic>
            <p:nvPicPr>
              <p:cNvPr id="11" name="Ink 10">
                <a:extLst>
                  <a:ext uri="{FF2B5EF4-FFF2-40B4-BE49-F238E27FC236}">
                    <a16:creationId xmlns:a16="http://schemas.microsoft.com/office/drawing/2014/main" id="{D9BEF20C-ADE2-11DA-6141-4E2DFEB36E25}"/>
                  </a:ext>
                </a:extLst>
              </p:cNvPr>
              <p:cNvPicPr/>
              <p:nvPr/>
            </p:nvPicPr>
            <p:blipFill>
              <a:blip r:embed="rId8"/>
              <a:stretch>
                <a:fillRect/>
              </a:stretch>
            </p:blipFill>
            <p:spPr>
              <a:xfrm>
                <a:off x="6309698" y="6197481"/>
                <a:ext cx="223560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3397B7FC-84BF-0316-0CF3-E5D3E99647FD}"/>
                  </a:ext>
                </a:extLst>
              </p14:cNvPr>
              <p14:cNvContentPartPr/>
              <p14:nvPr/>
            </p14:nvContentPartPr>
            <p14:xfrm>
              <a:off x="260978" y="2324601"/>
              <a:ext cx="3000240" cy="360"/>
            </p14:xfrm>
          </p:contentPart>
        </mc:Choice>
        <mc:Fallback xmlns="">
          <p:pic>
            <p:nvPicPr>
              <p:cNvPr id="12" name="Ink 11">
                <a:extLst>
                  <a:ext uri="{FF2B5EF4-FFF2-40B4-BE49-F238E27FC236}">
                    <a16:creationId xmlns:a16="http://schemas.microsoft.com/office/drawing/2014/main" id="{3397B7FC-84BF-0316-0CF3-E5D3E99647FD}"/>
                  </a:ext>
                </a:extLst>
              </p:cNvPr>
              <p:cNvPicPr/>
              <p:nvPr/>
            </p:nvPicPr>
            <p:blipFill>
              <a:blip r:embed="rId10"/>
              <a:stretch>
                <a:fillRect/>
              </a:stretch>
            </p:blipFill>
            <p:spPr>
              <a:xfrm>
                <a:off x="198338" y="2261601"/>
                <a:ext cx="3125880" cy="126000"/>
              </a:xfrm>
              <a:prstGeom prst="rect">
                <a:avLst/>
              </a:prstGeom>
            </p:spPr>
          </p:pic>
        </mc:Fallback>
      </mc:AlternateContent>
    </p:spTree>
    <p:extLst>
      <p:ext uri="{BB962C8B-B14F-4D97-AF65-F5344CB8AC3E}">
        <p14:creationId xmlns:p14="http://schemas.microsoft.com/office/powerpoint/2010/main" val="308822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System Requirements:</a:t>
            </a:r>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a:normAutofit/>
          </a:bodyPr>
          <a:lstStyle/>
          <a:p>
            <a:r>
              <a:rPr lang="en-US" i="1" dirty="0"/>
              <a:t>Hardware requirements:</a:t>
            </a:r>
          </a:p>
          <a:p>
            <a:pPr marL="342900" indent="-342900">
              <a:buFont typeface="Arial" panose="020B0604020202020204" pitchFamily="34" charset="0"/>
              <a:buChar char="•"/>
            </a:pPr>
            <a:r>
              <a:rPr lang="en-US" dirty="0"/>
              <a:t>Batteries with voltage sensors</a:t>
            </a:r>
          </a:p>
          <a:p>
            <a:pPr marL="342900" indent="-342900">
              <a:buFont typeface="Arial" panose="020B0604020202020204" pitchFamily="34" charset="0"/>
              <a:buChar char="•"/>
            </a:pPr>
            <a:r>
              <a:rPr lang="en-US" dirty="0"/>
              <a:t>9V power supply</a:t>
            </a:r>
          </a:p>
          <a:p>
            <a:pPr marL="342900" indent="-342900">
              <a:buFont typeface="Arial" panose="020B0604020202020204" pitchFamily="34" charset="0"/>
              <a:buChar char="•"/>
            </a:pPr>
            <a:r>
              <a:rPr lang="en-US" dirty="0"/>
              <a:t>ESP32 development kit</a:t>
            </a:r>
          </a:p>
          <a:p>
            <a:pPr marL="342900" indent="-342900">
              <a:buFont typeface="Arial" panose="020B0604020202020204" pitchFamily="34" charset="0"/>
              <a:buChar char="•"/>
            </a:pPr>
            <a:r>
              <a:rPr lang="en-US" dirty="0"/>
              <a:t>LCD display</a:t>
            </a:r>
          </a:p>
          <a:p>
            <a:pPr marL="342900" indent="-342900">
              <a:buFont typeface="Arial" panose="020B0604020202020204" pitchFamily="34" charset="0"/>
              <a:buChar char="•"/>
            </a:pPr>
            <a:r>
              <a:rPr lang="en-US" dirty="0"/>
              <a:t>RFID sensor</a:t>
            </a:r>
          </a:p>
          <a:p>
            <a:endParaRPr lang="en-US" dirty="0"/>
          </a:p>
          <a:p>
            <a:endParaRPr lang="en-US" dirty="0"/>
          </a:p>
          <a:p>
            <a:endParaRPr lang="en-US" dirty="0"/>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6"/>
          </p:nvPr>
        </p:nvSpPr>
        <p:spPr>
          <a:xfrm>
            <a:off x="5881898" y="2676525"/>
            <a:ext cx="4490827" cy="3597470"/>
          </a:xfrm>
        </p:spPr>
        <p:txBody>
          <a:bodyPr/>
          <a:lstStyle/>
          <a:p>
            <a:r>
              <a:rPr lang="en-US" i="1" dirty="0"/>
              <a:t>Software Requirements:</a:t>
            </a:r>
          </a:p>
          <a:p>
            <a:pPr marL="342900" indent="-342900">
              <a:buFont typeface="Arial" panose="020B0604020202020204" pitchFamily="34" charset="0"/>
              <a:buChar char="•"/>
            </a:pPr>
            <a:r>
              <a:rPr lang="en-IN" dirty="0"/>
              <a:t>Arduino Integrated Development Environment (IDE)</a:t>
            </a:r>
          </a:p>
          <a:p>
            <a:pPr marL="342900" indent="-342900">
              <a:buFont typeface="Arial" panose="020B0604020202020204" pitchFamily="34" charset="0"/>
              <a:buChar char="•"/>
            </a:pPr>
            <a:r>
              <a:rPr lang="en-US" dirty="0"/>
              <a:t>Web server for slot booking and data management</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888484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6971E470-4A36-5A26-913B-F72D93D3A938}"/>
              </a:ext>
            </a:extLst>
          </p:cNvPr>
          <p:cNvSpPr>
            <a:spLocks noChangeArrowheads="1"/>
          </p:cNvSpPr>
          <p:nvPr/>
        </p:nvSpPr>
        <p:spPr bwMode="auto">
          <a:xfrm>
            <a:off x="83976" y="543310"/>
            <a:ext cx="8754320" cy="6601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Arial" panose="020B0604020202020204" pitchFamily="34" charset="0"/>
              </a:rPr>
              <a:t>Batteries</a:t>
            </a:r>
            <a:r>
              <a:rPr kumimoji="0" lang="en-US" altLang="en-US" b="0" i="0" u="none" strike="noStrike" cap="none" normalizeH="0" baseline="0" dirty="0">
                <a:ln>
                  <a:noFill/>
                </a:ln>
                <a:solidFill>
                  <a:schemeClr val="bg1"/>
                </a:solidFill>
                <a:effectLst/>
                <a:latin typeface="Arial" panose="020B0604020202020204" pitchFamily="34" charset="0"/>
              </a:rPr>
              <a:t>: Equipped with voltage sensors to monitor health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Description of battery specifications and types used.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Importance of battery health data in dynamic pricing.</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Arial" panose="020B0604020202020204" pitchFamily="34" charset="0"/>
              </a:rPr>
              <a:t>Voltage Sensors</a:t>
            </a:r>
            <a:r>
              <a:rPr kumimoji="0" lang="en-US" altLang="en-US" b="0" i="0" u="none" strike="noStrike" cap="none" normalizeH="0" baseline="0" dirty="0">
                <a:ln>
                  <a:noFill/>
                </a:ln>
                <a:solidFill>
                  <a:schemeClr val="bg1"/>
                </a:solidFill>
                <a:effectLst/>
                <a:latin typeface="Arial" panose="020B0604020202020204" pitchFamily="34" charset="0"/>
              </a:rPr>
              <a:t>: Measure and report the charge level and health of batteries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Types of voltage sensors used and their accuracy.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Role of voltage data in determining battery condition.</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Arial" panose="020B0604020202020204" pitchFamily="34" charset="0"/>
              </a:rPr>
              <a:t>9V Power Supply</a:t>
            </a:r>
            <a:r>
              <a:rPr kumimoji="0" lang="en-US" altLang="en-US" b="0" i="0" u="none" strike="noStrike" cap="none" normalizeH="0" baseline="0" dirty="0">
                <a:ln>
                  <a:noFill/>
                </a:ln>
                <a:solidFill>
                  <a:schemeClr val="bg1"/>
                </a:solidFill>
                <a:effectLst/>
                <a:latin typeface="Arial" panose="020B0604020202020204" pitchFamily="34" charset="0"/>
              </a:rPr>
              <a:t>: Provides necessary power to the ESP32 and other components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Ensures stable power for reliable system performance.</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bg1"/>
                </a:solidFill>
                <a:effectLst/>
                <a:latin typeface="Arial" panose="020B0604020202020204" pitchFamily="34" charset="0"/>
              </a:rPr>
              <a:t>ESP32 Development Kit</a:t>
            </a:r>
            <a:r>
              <a:rPr kumimoji="0" lang="en-US" altLang="en-US" b="0" i="0" u="none" strike="noStrike" cap="none" normalizeH="0" baseline="0" dirty="0">
                <a:ln>
                  <a:noFill/>
                </a:ln>
                <a:solidFill>
                  <a:schemeClr val="bg1"/>
                </a:solidFill>
                <a:effectLst/>
                <a:latin typeface="Arial" panose="020B0604020202020204" pitchFamily="34" charset="0"/>
              </a:rPr>
              <a:t>: Central control unit for processing and communication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Key features of ESP32 (Wi-Fi capability, processing power).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panose="020B0604020202020204" pitchFamily="34" charset="0"/>
              </a:rPr>
              <a:t>Its role in data processing and communication with other components.</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FF0000"/>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F95A1ECC-6B92-8D30-EA82-9AEFF6D4DBBB}"/>
                  </a:ext>
                </a:extLst>
              </p14:cNvPr>
              <p14:cNvContentPartPr/>
              <p14:nvPr/>
            </p14:nvContentPartPr>
            <p14:xfrm>
              <a:off x="550418" y="2042574"/>
              <a:ext cx="2417400" cy="141120"/>
            </p14:xfrm>
          </p:contentPart>
        </mc:Choice>
        <mc:Fallback xmlns="">
          <p:pic>
            <p:nvPicPr>
              <p:cNvPr id="6" name="Ink 5">
                <a:extLst>
                  <a:ext uri="{FF2B5EF4-FFF2-40B4-BE49-F238E27FC236}">
                    <a16:creationId xmlns:a16="http://schemas.microsoft.com/office/drawing/2014/main" id="{F95A1ECC-6B92-8D30-EA82-9AEFF6D4DBBB}"/>
                  </a:ext>
                </a:extLst>
              </p:cNvPr>
              <p:cNvPicPr/>
              <p:nvPr/>
            </p:nvPicPr>
            <p:blipFill>
              <a:blip r:embed="rId3"/>
              <a:stretch>
                <a:fillRect/>
              </a:stretch>
            </p:blipFill>
            <p:spPr>
              <a:xfrm>
                <a:off x="487418" y="1979574"/>
                <a:ext cx="254304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D076DA1D-D765-D9AE-4239-41152139134A}"/>
                  </a:ext>
                </a:extLst>
              </p14:cNvPr>
              <p14:cNvContentPartPr/>
              <p14:nvPr/>
            </p14:nvContentPartPr>
            <p14:xfrm>
              <a:off x="886298" y="1921974"/>
              <a:ext cx="959040" cy="225720"/>
            </p14:xfrm>
          </p:contentPart>
        </mc:Choice>
        <mc:Fallback xmlns="">
          <p:pic>
            <p:nvPicPr>
              <p:cNvPr id="8" name="Ink 7">
                <a:extLst>
                  <a:ext uri="{FF2B5EF4-FFF2-40B4-BE49-F238E27FC236}">
                    <a16:creationId xmlns:a16="http://schemas.microsoft.com/office/drawing/2014/main" id="{D076DA1D-D765-D9AE-4239-41152139134A}"/>
                  </a:ext>
                </a:extLst>
              </p:cNvPr>
              <p:cNvPicPr/>
              <p:nvPr/>
            </p:nvPicPr>
            <p:blipFill>
              <a:blip r:embed="rId5"/>
              <a:stretch>
                <a:fillRect/>
              </a:stretch>
            </p:blipFill>
            <p:spPr>
              <a:xfrm>
                <a:off x="823298" y="1858974"/>
                <a:ext cx="108468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2F8D8F5-1821-82EC-53F5-5B6012536580}"/>
                  </a:ext>
                </a:extLst>
              </p14:cNvPr>
              <p14:cNvContentPartPr/>
              <p14:nvPr/>
            </p14:nvContentPartPr>
            <p14:xfrm>
              <a:off x="282578" y="2107734"/>
              <a:ext cx="1266480" cy="29160"/>
            </p14:xfrm>
          </p:contentPart>
        </mc:Choice>
        <mc:Fallback xmlns="">
          <p:pic>
            <p:nvPicPr>
              <p:cNvPr id="9" name="Ink 8">
                <a:extLst>
                  <a:ext uri="{FF2B5EF4-FFF2-40B4-BE49-F238E27FC236}">
                    <a16:creationId xmlns:a16="http://schemas.microsoft.com/office/drawing/2014/main" id="{D2F8D8F5-1821-82EC-53F5-5B6012536580}"/>
                  </a:ext>
                </a:extLst>
              </p:cNvPr>
              <p:cNvPicPr/>
              <p:nvPr/>
            </p:nvPicPr>
            <p:blipFill>
              <a:blip r:embed="rId7"/>
              <a:stretch>
                <a:fillRect/>
              </a:stretch>
            </p:blipFill>
            <p:spPr>
              <a:xfrm>
                <a:off x="219578" y="2045094"/>
                <a:ext cx="1392120" cy="154800"/>
              </a:xfrm>
              <a:prstGeom prst="rect">
                <a:avLst/>
              </a:prstGeom>
            </p:spPr>
          </p:pic>
        </mc:Fallback>
      </mc:AlternateContent>
    </p:spTree>
    <p:extLst>
      <p:ext uri="{BB962C8B-B14F-4D97-AF65-F5344CB8AC3E}">
        <p14:creationId xmlns:p14="http://schemas.microsoft.com/office/powerpoint/2010/main" val="946573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29CF983-3DE6-5F6D-0B83-2815B57AEFD2}"/>
              </a:ext>
            </a:extLst>
          </p:cNvPr>
          <p:cNvSpPr txBox="1"/>
          <p:nvPr/>
        </p:nvSpPr>
        <p:spPr>
          <a:xfrm>
            <a:off x="345233" y="990137"/>
            <a:ext cx="9750490" cy="5442516"/>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LCD Display</a:t>
            </a:r>
            <a:r>
              <a:rPr kumimoji="0" lang="en-US" altLang="en-US" sz="1800" b="0" i="0" u="none" strike="noStrike" cap="none" normalizeH="0" baseline="0" dirty="0">
                <a:ln>
                  <a:noFill/>
                </a:ln>
                <a:solidFill>
                  <a:schemeClr val="bg1"/>
                </a:solidFill>
                <a:effectLst/>
                <a:latin typeface="Arial" panose="020B0604020202020204" pitchFamily="34" charset="0"/>
              </a:rPr>
              <a:t>: Shows real-time information to users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User interface design for clear and intuitive information display.</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RFID Sensor</a:t>
            </a:r>
            <a:r>
              <a:rPr kumimoji="0" lang="en-US" altLang="en-US" sz="1800" b="0" i="0" u="none" strike="noStrike" cap="none" normalizeH="0" baseline="0" dirty="0">
                <a:ln>
                  <a:noFill/>
                </a:ln>
                <a:solidFill>
                  <a:schemeClr val="bg1"/>
                </a:solidFill>
                <a:effectLst/>
                <a:latin typeface="Arial" panose="020B0604020202020204" pitchFamily="34" charset="0"/>
              </a:rPr>
              <a:t>: Reads RFID tags on batteries to identify and track them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How RFID technology helps in unique identification and tracking.</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Web Server</a:t>
            </a:r>
            <a:r>
              <a:rPr kumimoji="0" lang="en-US" altLang="en-US" sz="1800" b="0" i="0" u="none" strike="noStrike" cap="none" normalizeH="0" baseline="0" dirty="0">
                <a:ln>
                  <a:noFill/>
                </a:ln>
                <a:solidFill>
                  <a:schemeClr val="bg1"/>
                </a:solidFill>
                <a:effectLst/>
                <a:latin typeface="Arial" panose="020B0604020202020204" pitchFamily="34" charset="0"/>
              </a:rPr>
              <a:t>: Manages slot booking, data storage, and pricing calculations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Backend infrastructure for data management and user interface.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Security measures for data protection and user privacy.</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The Arduino IDE</a:t>
            </a:r>
            <a:r>
              <a:rPr kumimoji="0" lang="en-US" altLang="en-US" sz="1800" b="0" i="0" u="none" strike="noStrike" cap="none" normalizeH="0" baseline="0" dirty="0">
                <a:ln>
                  <a:noFill/>
                </a:ln>
                <a:solidFill>
                  <a:schemeClr val="bg1"/>
                </a:solidFill>
                <a:effectLst/>
                <a:latin typeface="Arial" panose="020B0604020202020204" pitchFamily="34" charset="0"/>
              </a:rPr>
              <a:t>: It is a cross-platform application for writing, compiling, and uploading code to Arduino boards. It provides an intuitive interface and essential tools for programming microcontrollers.</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88056D6-0508-F020-F210-4FF4C73D648C}"/>
                  </a:ext>
                </a:extLst>
              </p14:cNvPr>
              <p14:cNvContentPartPr/>
              <p14:nvPr/>
            </p14:nvContentPartPr>
            <p14:xfrm>
              <a:off x="559418" y="1920622"/>
              <a:ext cx="2440800" cy="384840"/>
            </p14:xfrm>
          </p:contentPart>
        </mc:Choice>
        <mc:Fallback xmlns="">
          <p:pic>
            <p:nvPicPr>
              <p:cNvPr id="7" name="Ink 6">
                <a:extLst>
                  <a:ext uri="{FF2B5EF4-FFF2-40B4-BE49-F238E27FC236}">
                    <a16:creationId xmlns:a16="http://schemas.microsoft.com/office/drawing/2014/main" id="{488056D6-0508-F020-F210-4FF4C73D648C}"/>
                  </a:ext>
                </a:extLst>
              </p:cNvPr>
              <p:cNvPicPr/>
              <p:nvPr/>
            </p:nvPicPr>
            <p:blipFill>
              <a:blip r:embed="rId3"/>
              <a:stretch>
                <a:fillRect/>
              </a:stretch>
            </p:blipFill>
            <p:spPr>
              <a:xfrm>
                <a:off x="496778" y="1857982"/>
                <a:ext cx="2566440" cy="510480"/>
              </a:xfrm>
              <a:prstGeom prst="rect">
                <a:avLst/>
              </a:prstGeom>
            </p:spPr>
          </p:pic>
        </mc:Fallback>
      </mc:AlternateContent>
    </p:spTree>
    <p:extLst>
      <p:ext uri="{BB962C8B-B14F-4D97-AF65-F5344CB8AC3E}">
        <p14:creationId xmlns:p14="http://schemas.microsoft.com/office/powerpoint/2010/main" val="2895093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a:lstStyle/>
          <a:p>
            <a:r>
              <a:rPr lang="en-US" dirty="0"/>
              <a:t>Block diagram</a:t>
            </a:r>
          </a:p>
        </p:txBody>
      </p:sp>
      <p:sp>
        <p:nvSpPr>
          <p:cNvPr id="3" name="Content Placeholder 2">
            <a:extLst>
              <a:ext uri="{FF2B5EF4-FFF2-40B4-BE49-F238E27FC236}">
                <a16:creationId xmlns:a16="http://schemas.microsoft.com/office/drawing/2014/main" id="{34F2E863-4A4C-76FE-444A-083F93043389}"/>
              </a:ext>
            </a:extLst>
          </p:cNvPr>
          <p:cNvSpPr>
            <a:spLocks noGrp="1"/>
          </p:cNvSpPr>
          <p:nvPr>
            <p:ph sz="quarter" idx="16"/>
          </p:nvPr>
        </p:nvSpPr>
        <p:spPr>
          <a:xfrm>
            <a:off x="593725" y="3279775"/>
            <a:ext cx="5045075" cy="2994025"/>
          </a:xfrm>
        </p:spPr>
        <p:txBody>
          <a:bodyPr>
            <a:normAutofit/>
          </a:bodyPr>
          <a:lstStyle/>
          <a:p>
            <a:r>
              <a:rPr lang="en-US" dirty="0"/>
              <a:t>This diagram illustrates a system for pricing of EV batteries using RFID at battery swapping centers. </a:t>
            </a:r>
          </a:p>
        </p:txBody>
      </p:sp>
      <p:pic>
        <p:nvPicPr>
          <p:cNvPr id="6" name="Picture 5">
            <a:extLst>
              <a:ext uri="{FF2B5EF4-FFF2-40B4-BE49-F238E27FC236}">
                <a16:creationId xmlns:a16="http://schemas.microsoft.com/office/drawing/2014/main" id="{72E69F46-F06C-55ED-5C1A-5D6DE67E22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1117" y="278129"/>
            <a:ext cx="6120883" cy="6407619"/>
          </a:xfrm>
          <a:prstGeom prst="rect">
            <a:avLst/>
          </a:prstGeom>
        </p:spPr>
      </p:pic>
    </p:spTree>
    <p:extLst>
      <p:ext uri="{BB962C8B-B14F-4D97-AF65-F5344CB8AC3E}">
        <p14:creationId xmlns:p14="http://schemas.microsoft.com/office/powerpoint/2010/main" val="298364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B1DE41C3-00BF-2353-697F-923B6D9E6EF9}"/>
              </a:ext>
            </a:extLst>
          </p:cNvPr>
          <p:cNvSpPr txBox="1"/>
          <p:nvPr/>
        </p:nvSpPr>
        <p:spPr>
          <a:xfrm>
            <a:off x="1063690" y="612845"/>
            <a:ext cx="10375640" cy="5027530"/>
          </a:xfrm>
          <a:prstGeom prst="rect">
            <a:avLst/>
          </a:prstGeom>
          <a:noFill/>
        </p:spPr>
        <p:txBody>
          <a:bodyPr wrap="square">
            <a:spAutoFit/>
          </a:bodyPr>
          <a:lstStyle/>
          <a:p>
            <a:pPr>
              <a:lnSpc>
                <a:spcPct val="150000"/>
              </a:lnSpc>
            </a:pPr>
            <a:endParaRPr lang="en-IN" dirty="0">
              <a:solidFill>
                <a:schemeClr val="bg1"/>
              </a:solidFill>
            </a:endParaRPr>
          </a:p>
          <a:p>
            <a:pPr>
              <a:lnSpc>
                <a:spcPct val="150000"/>
              </a:lnSpc>
            </a:pPr>
            <a:r>
              <a:rPr lang="en-IN" dirty="0">
                <a:solidFill>
                  <a:schemeClr val="bg1"/>
                </a:solidFill>
              </a:rPr>
              <a:t>The block diagram consists of three batteries monitored by voltage sensors, powered by a 9V supply, controlled by an ESP32 DEV KIT V1.</a:t>
            </a:r>
          </a:p>
          <a:p>
            <a:pPr marL="285750" indent="-285750">
              <a:lnSpc>
                <a:spcPct val="150000"/>
              </a:lnSpc>
              <a:buFont typeface="Arial" panose="020B0604020202020204" pitchFamily="34" charset="0"/>
              <a:buChar char="•"/>
            </a:pPr>
            <a:r>
              <a:rPr lang="en-IN" dirty="0">
                <a:solidFill>
                  <a:schemeClr val="bg1"/>
                </a:solidFill>
              </a:rPr>
              <a:t>ESP32 DEV KIT: Central unit managing battery data from sensors, controlling LCD display, RFID sensor, and connecting to a web server.</a:t>
            </a:r>
          </a:p>
          <a:p>
            <a:pPr marL="285750" indent="-285750">
              <a:lnSpc>
                <a:spcPct val="150000"/>
              </a:lnSpc>
              <a:buFont typeface="Arial" panose="020B0604020202020204" pitchFamily="34" charset="0"/>
              <a:buChar char="•"/>
            </a:pPr>
            <a:r>
              <a:rPr lang="en-IN" dirty="0">
                <a:solidFill>
                  <a:schemeClr val="bg1"/>
                </a:solidFill>
              </a:rPr>
              <a:t>RFID Sensor: Identifies batteries via RFID tags for tracking and management.</a:t>
            </a:r>
          </a:p>
          <a:p>
            <a:pPr marL="285750" indent="-285750">
              <a:lnSpc>
                <a:spcPct val="150000"/>
              </a:lnSpc>
              <a:buFont typeface="Arial" panose="020B0604020202020204" pitchFamily="34" charset="0"/>
              <a:buChar char="•"/>
            </a:pPr>
            <a:r>
              <a:rPr lang="en-IN" dirty="0">
                <a:solidFill>
                  <a:schemeClr val="bg1"/>
                </a:solidFill>
              </a:rPr>
              <a:t>LCD Display: Provides real-time battery status and transaction information to users.</a:t>
            </a:r>
          </a:p>
          <a:p>
            <a:pPr marL="285750" indent="-285750">
              <a:lnSpc>
                <a:spcPct val="150000"/>
              </a:lnSpc>
              <a:buFont typeface="Arial" panose="020B0604020202020204" pitchFamily="34" charset="0"/>
              <a:buChar char="•"/>
            </a:pPr>
            <a:r>
              <a:rPr lang="en-IN" dirty="0">
                <a:solidFill>
                  <a:schemeClr val="bg1"/>
                </a:solidFill>
              </a:rPr>
              <a:t>Web Server: Manages data including battery usage history and implements dynamic pricing based on battery condition.</a:t>
            </a:r>
          </a:p>
          <a:p>
            <a:pPr marL="285750" indent="-285750">
              <a:lnSpc>
                <a:spcPct val="150000"/>
              </a:lnSpc>
              <a:buFont typeface="Arial" panose="020B0604020202020204" pitchFamily="34" charset="0"/>
              <a:buChar char="•"/>
            </a:pPr>
            <a:r>
              <a:rPr lang="en-IN" dirty="0">
                <a:solidFill>
                  <a:schemeClr val="bg1"/>
                </a:solidFill>
              </a:rPr>
              <a:t>Process Flow: User swaps battery, RFID identifies it, ESP32 reads data, updates web server with transaction details and calculates dynamic price, user completes transaction based on calculated price.</a:t>
            </a:r>
          </a:p>
        </p:txBody>
      </p:sp>
      <p:grpSp>
        <p:nvGrpSpPr>
          <p:cNvPr id="17" name="Group 16">
            <a:extLst>
              <a:ext uri="{FF2B5EF4-FFF2-40B4-BE49-F238E27FC236}">
                <a16:creationId xmlns:a16="http://schemas.microsoft.com/office/drawing/2014/main" id="{7B0737A9-B4E4-B6E9-A884-3121EE650F3B}"/>
              </a:ext>
            </a:extLst>
          </p:cNvPr>
          <p:cNvGrpSpPr/>
          <p:nvPr/>
        </p:nvGrpSpPr>
        <p:grpSpPr>
          <a:xfrm>
            <a:off x="2745338" y="6027502"/>
            <a:ext cx="3088440" cy="411480"/>
            <a:chOff x="2745338" y="6027502"/>
            <a:chExt cx="3088440" cy="411480"/>
          </a:xfrm>
        </p:grpSpPr>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7A87BAAC-35F0-75C9-5DC2-209B278BFE59}"/>
                    </a:ext>
                  </a:extLst>
                </p14:cNvPr>
                <p14:cNvContentPartPr/>
                <p14:nvPr/>
              </p14:nvContentPartPr>
              <p14:xfrm>
                <a:off x="2745338" y="6036862"/>
                <a:ext cx="3088440" cy="402120"/>
              </p14:xfrm>
            </p:contentPart>
          </mc:Choice>
          <mc:Fallback xmlns="">
            <p:pic>
              <p:nvPicPr>
                <p:cNvPr id="15" name="Ink 14">
                  <a:extLst>
                    <a:ext uri="{FF2B5EF4-FFF2-40B4-BE49-F238E27FC236}">
                      <a16:creationId xmlns:a16="http://schemas.microsoft.com/office/drawing/2014/main" id="{7A87BAAC-35F0-75C9-5DC2-209B278BFE59}"/>
                    </a:ext>
                  </a:extLst>
                </p:cNvPr>
                <p:cNvPicPr/>
                <p:nvPr/>
              </p:nvPicPr>
              <p:blipFill>
                <a:blip r:embed="rId4"/>
                <a:stretch>
                  <a:fillRect/>
                </a:stretch>
              </p:blipFill>
              <p:spPr>
                <a:xfrm>
                  <a:off x="2682698" y="5974222"/>
                  <a:ext cx="3214080" cy="527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06581D64-2404-6AA6-C968-6E9D10C2E0E8}"/>
                    </a:ext>
                  </a:extLst>
                </p14:cNvPr>
                <p14:cNvContentPartPr/>
                <p14:nvPr/>
              </p14:nvContentPartPr>
              <p14:xfrm>
                <a:off x="5019818" y="6027502"/>
                <a:ext cx="5760" cy="21600"/>
              </p14:xfrm>
            </p:contentPart>
          </mc:Choice>
          <mc:Fallback xmlns="">
            <p:pic>
              <p:nvPicPr>
                <p:cNvPr id="16" name="Ink 15">
                  <a:extLst>
                    <a:ext uri="{FF2B5EF4-FFF2-40B4-BE49-F238E27FC236}">
                      <a16:creationId xmlns:a16="http://schemas.microsoft.com/office/drawing/2014/main" id="{06581D64-2404-6AA6-C968-6E9D10C2E0E8}"/>
                    </a:ext>
                  </a:extLst>
                </p:cNvPr>
                <p:cNvPicPr/>
                <p:nvPr/>
              </p:nvPicPr>
              <p:blipFill>
                <a:blip r:embed="rId6"/>
                <a:stretch>
                  <a:fillRect/>
                </a:stretch>
              </p:blipFill>
              <p:spPr>
                <a:xfrm>
                  <a:off x="4956818" y="5964862"/>
                  <a:ext cx="131400" cy="147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0F25D32D-FC57-A0D8-3E4A-49E6F4D5B94C}"/>
                  </a:ext>
                </a:extLst>
              </p14:cNvPr>
              <p14:cNvContentPartPr/>
              <p14:nvPr/>
            </p14:nvContentPartPr>
            <p14:xfrm>
              <a:off x="3929738" y="6261142"/>
              <a:ext cx="1892160" cy="244080"/>
            </p14:xfrm>
          </p:contentPart>
        </mc:Choice>
        <mc:Fallback xmlns="">
          <p:pic>
            <p:nvPicPr>
              <p:cNvPr id="18" name="Ink 17">
                <a:extLst>
                  <a:ext uri="{FF2B5EF4-FFF2-40B4-BE49-F238E27FC236}">
                    <a16:creationId xmlns:a16="http://schemas.microsoft.com/office/drawing/2014/main" id="{0F25D32D-FC57-A0D8-3E4A-49E6F4D5B94C}"/>
                  </a:ext>
                </a:extLst>
              </p:cNvPr>
              <p:cNvPicPr/>
              <p:nvPr/>
            </p:nvPicPr>
            <p:blipFill>
              <a:blip r:embed="rId8"/>
              <a:stretch>
                <a:fillRect/>
              </a:stretch>
            </p:blipFill>
            <p:spPr>
              <a:xfrm>
                <a:off x="3866738" y="6198142"/>
                <a:ext cx="2017800" cy="369720"/>
              </a:xfrm>
              <a:prstGeom prst="rect">
                <a:avLst/>
              </a:prstGeom>
            </p:spPr>
          </p:pic>
        </mc:Fallback>
      </mc:AlternateContent>
    </p:spTree>
    <p:extLst>
      <p:ext uri="{BB962C8B-B14F-4D97-AF65-F5344CB8AC3E}">
        <p14:creationId xmlns:p14="http://schemas.microsoft.com/office/powerpoint/2010/main" val="4127695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t>METHODOLOGY</a:t>
            </a:r>
          </a:p>
        </p:txBody>
      </p:sp>
      <p:sp>
        <p:nvSpPr>
          <p:cNvPr id="3" name="Content Placeholder 2">
            <a:extLst>
              <a:ext uri="{FF2B5EF4-FFF2-40B4-BE49-F238E27FC236}">
                <a16:creationId xmlns:a16="http://schemas.microsoft.com/office/drawing/2014/main" id="{4096FB3A-B62C-3DAB-4FD1-B4EBDD650AEF}"/>
              </a:ext>
            </a:extLst>
          </p:cNvPr>
          <p:cNvSpPr>
            <a:spLocks noGrp="1"/>
          </p:cNvSpPr>
          <p:nvPr>
            <p:ph sz="quarter" idx="13"/>
          </p:nvPr>
        </p:nvSpPr>
        <p:spPr>
          <a:xfrm>
            <a:off x="289249" y="1604865"/>
            <a:ext cx="9601200" cy="4669130"/>
          </a:xfrm>
        </p:spPr>
        <p:txBody>
          <a:bodyPr>
            <a:noAutofit/>
          </a:bodyPr>
          <a:lstStyle/>
          <a:p>
            <a:pPr>
              <a:lnSpc>
                <a:spcPct val="170000"/>
              </a:lnSpc>
            </a:pPr>
            <a:endParaRPr lang="en-US" sz="1400" dirty="0">
              <a:latin typeface="Arial" panose="020B0604020202020204" pitchFamily="34" charset="0"/>
              <a:cs typeface="Arial" panose="020B0604020202020204" pitchFamily="34" charset="0"/>
            </a:endParaRPr>
          </a:p>
          <a:p>
            <a:pPr>
              <a:lnSpc>
                <a:spcPct val="170000"/>
              </a:lnSpc>
            </a:pPr>
            <a:r>
              <a:rPr lang="en-US" sz="1400" dirty="0">
                <a:latin typeface="Arial" panose="020B0604020202020204" pitchFamily="34" charset="0"/>
                <a:cs typeface="Arial" panose="020B0604020202020204" pitchFamily="34" charset="0"/>
              </a:rPr>
              <a:t>1</a:t>
            </a:r>
            <a:r>
              <a:rPr lang="en-US" sz="1400" b="1" dirty="0">
                <a:latin typeface="Arial" panose="020B0604020202020204" pitchFamily="34" charset="0"/>
                <a:cs typeface="Arial" panose="020B0604020202020204" pitchFamily="34" charset="0"/>
              </a:rPr>
              <a:t>.Data Collection: </a:t>
            </a:r>
            <a:r>
              <a:rPr lang="en-US" sz="1400" dirty="0">
                <a:latin typeface="Arial" panose="020B0604020202020204" pitchFamily="34" charset="0"/>
                <a:cs typeface="Arial" panose="020B0604020202020204" pitchFamily="34" charset="0"/>
              </a:rPr>
              <a:t>Real-time data from voltage sensors and RFID tags is crucially stored and used for accurate pricing decisions.</a:t>
            </a:r>
          </a:p>
          <a:p>
            <a:pPr>
              <a:lnSpc>
                <a:spcPct val="170000"/>
              </a:lnSpc>
            </a:pPr>
            <a:r>
              <a:rPr lang="en-US" sz="1400" dirty="0">
                <a:latin typeface="Arial" panose="020B0604020202020204" pitchFamily="34" charset="0"/>
                <a:cs typeface="Arial" panose="020B0604020202020204" pitchFamily="34" charset="0"/>
              </a:rPr>
              <a:t>2. </a:t>
            </a:r>
            <a:r>
              <a:rPr lang="en-US" sz="1400" b="1" dirty="0">
                <a:latin typeface="Arial" panose="020B0604020202020204" pitchFamily="34" charset="0"/>
                <a:cs typeface="Arial" panose="020B0604020202020204" pitchFamily="34" charset="0"/>
              </a:rPr>
              <a:t>Data Processing</a:t>
            </a:r>
            <a:r>
              <a:rPr lang="en-US" sz="1400" dirty="0">
                <a:latin typeface="Arial" panose="020B0604020202020204" pitchFamily="34" charset="0"/>
                <a:cs typeface="Arial" panose="020B0604020202020204" pitchFamily="34" charset="0"/>
              </a:rPr>
              <a:t>: Battery health is analyzed using algorithms that consider charge cycles and voltage levels, influencing dynamic pricing.</a:t>
            </a:r>
          </a:p>
          <a:p>
            <a:pPr>
              <a:lnSpc>
                <a:spcPct val="170000"/>
              </a:lnSpc>
            </a:pPr>
            <a:r>
              <a:rPr lang="en-US" sz="1400" dirty="0">
                <a:latin typeface="Arial" panose="020B0604020202020204" pitchFamily="34" charset="0"/>
                <a:cs typeface="Arial" panose="020B0604020202020204" pitchFamily="34" charset="0"/>
              </a:rPr>
              <a:t>3.</a:t>
            </a:r>
            <a:r>
              <a:rPr lang="en-US" sz="1400" b="1" dirty="0">
                <a:latin typeface="Arial" panose="020B0604020202020204" pitchFamily="34" charset="0"/>
                <a:cs typeface="Arial" panose="020B0604020202020204" pitchFamily="34" charset="0"/>
              </a:rPr>
              <a:t>Pricing Algorithm: </a:t>
            </a:r>
            <a:r>
              <a:rPr lang="en-US" sz="1400" dirty="0">
                <a:latin typeface="Arial" panose="020B0604020202020204" pitchFamily="34" charset="0"/>
                <a:cs typeface="Arial" panose="020B0604020202020204" pitchFamily="34" charset="0"/>
              </a:rPr>
              <a:t>Pricing calculations are based on current battery conditions, with examples illustrating pricing variations.</a:t>
            </a:r>
          </a:p>
          <a:p>
            <a:pPr>
              <a:lnSpc>
                <a:spcPct val="170000"/>
              </a:lnSpc>
            </a:pPr>
            <a:r>
              <a:rPr lang="en-US" sz="1400" dirty="0">
                <a:latin typeface="Arial" panose="020B0604020202020204" pitchFamily="34" charset="0"/>
                <a:cs typeface="Arial" panose="020B0604020202020204" pitchFamily="34" charset="0"/>
              </a:rPr>
              <a:t>4.</a:t>
            </a:r>
            <a:r>
              <a:rPr lang="en-US" sz="1400" b="1" dirty="0">
                <a:latin typeface="Arial" panose="020B0604020202020204" pitchFamily="34" charset="0"/>
                <a:cs typeface="Arial" panose="020B0604020202020204" pitchFamily="34" charset="0"/>
              </a:rPr>
              <a:t>User Interaction: </a:t>
            </a:r>
            <a:r>
              <a:rPr lang="en-US" sz="1400" dirty="0">
                <a:latin typeface="Arial" panose="020B0604020202020204" pitchFamily="34" charset="0"/>
                <a:cs typeface="Arial" panose="020B0604020202020204" pitchFamily="34" charset="0"/>
              </a:rPr>
              <a:t>Interfaces on LCD and web server facilitate intuitive battery swapping, guided by RFID identification and transaction confirmation.</a:t>
            </a:r>
          </a:p>
          <a:p>
            <a:pPr>
              <a:lnSpc>
                <a:spcPct val="170000"/>
              </a:lnSpc>
            </a:pPr>
            <a:r>
              <a:rPr lang="en-US" sz="1400" dirty="0">
                <a:latin typeface="Arial" panose="020B0604020202020204" pitchFamily="34" charset="0"/>
                <a:cs typeface="Arial" panose="020B0604020202020204" pitchFamily="34" charset="0"/>
              </a:rPr>
              <a:t>5.</a:t>
            </a:r>
            <a:r>
              <a:rPr lang="en-US" sz="1400" b="1" dirty="0">
                <a:latin typeface="Arial" panose="020B0604020202020204" pitchFamily="34" charset="0"/>
                <a:cs typeface="Arial" panose="020B0604020202020204" pitchFamily="34" charset="0"/>
              </a:rPr>
              <a:t>System Integration: </a:t>
            </a:r>
            <a:r>
              <a:rPr lang="en-US" sz="1400" dirty="0">
                <a:latin typeface="Arial" panose="020B0604020202020204" pitchFamily="34" charset="0"/>
                <a:cs typeface="Arial" panose="020B0604020202020204" pitchFamily="34" charset="0"/>
              </a:rPr>
              <a:t>The ESP32 orchestrates seamless integration of sensors and server communications for reliable system performance.</a:t>
            </a:r>
          </a:p>
        </p:txBody>
      </p:sp>
    </p:spTree>
    <p:extLst>
      <p:ext uri="{BB962C8B-B14F-4D97-AF65-F5344CB8AC3E}">
        <p14:creationId xmlns:p14="http://schemas.microsoft.com/office/powerpoint/2010/main" val="1850768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t>RESULTS AND DISCUSSION:</a:t>
            </a:r>
          </a:p>
        </p:txBody>
      </p:sp>
      <p:pic>
        <p:nvPicPr>
          <p:cNvPr id="4" name="Content Placeholder 3">
            <a:extLst>
              <a:ext uri="{FF2B5EF4-FFF2-40B4-BE49-F238E27FC236}">
                <a16:creationId xmlns:a16="http://schemas.microsoft.com/office/drawing/2014/main" id="{A29A67DE-A4B7-0F56-53DB-60A58A14C2DC}"/>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rcRect/>
          <a:stretch>
            <a:fillRect/>
          </a:stretch>
        </p:blipFill>
        <p:spPr bwMode="auto">
          <a:xfrm>
            <a:off x="461960" y="2467337"/>
            <a:ext cx="3774137" cy="3065716"/>
          </a:xfrm>
          <a:prstGeom prst="rect">
            <a:avLst/>
          </a:prstGeom>
          <a:noFill/>
          <a:ln>
            <a:noFill/>
          </a:ln>
        </p:spPr>
      </p:pic>
      <p:pic>
        <p:nvPicPr>
          <p:cNvPr id="7" name="Picture 6">
            <a:extLst>
              <a:ext uri="{FF2B5EF4-FFF2-40B4-BE49-F238E27FC236}">
                <a16:creationId xmlns:a16="http://schemas.microsoft.com/office/drawing/2014/main" id="{DD60E61F-FB37-B5BB-D129-0E42C47ED9B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49147" y="2388089"/>
            <a:ext cx="2286000" cy="2430780"/>
          </a:xfrm>
          <a:prstGeom prst="rect">
            <a:avLst/>
          </a:prstGeom>
          <a:noFill/>
          <a:ln>
            <a:noFill/>
          </a:ln>
        </p:spPr>
      </p:pic>
      <p:pic>
        <p:nvPicPr>
          <p:cNvPr id="8" name="Picture 7">
            <a:extLst>
              <a:ext uri="{FF2B5EF4-FFF2-40B4-BE49-F238E27FC236}">
                <a16:creationId xmlns:a16="http://schemas.microsoft.com/office/drawing/2014/main" id="{675DEF5A-06EB-9F5D-9202-4335B5A46FA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48246" y="2388089"/>
            <a:ext cx="3467100" cy="2491429"/>
          </a:xfrm>
          <a:prstGeom prst="rect">
            <a:avLst/>
          </a:prstGeom>
          <a:noFill/>
          <a:ln>
            <a:noFill/>
          </a:ln>
        </p:spPr>
      </p:pic>
    </p:spTree>
    <p:extLst>
      <p:ext uri="{BB962C8B-B14F-4D97-AF65-F5344CB8AC3E}">
        <p14:creationId xmlns:p14="http://schemas.microsoft.com/office/powerpoint/2010/main" val="1726706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75D058D5-53A8-0D74-24C0-23FDF79933D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81970" y="2359284"/>
            <a:ext cx="2817253" cy="3597275"/>
          </a:xfrm>
          <a:prstGeom prst="rect">
            <a:avLst/>
          </a:prstGeom>
          <a:noFill/>
          <a:ln>
            <a:noFill/>
          </a:ln>
        </p:spPr>
      </p:pic>
      <p:pic>
        <p:nvPicPr>
          <p:cNvPr id="4" name="Picture 3">
            <a:extLst>
              <a:ext uri="{FF2B5EF4-FFF2-40B4-BE49-F238E27FC236}">
                <a16:creationId xmlns:a16="http://schemas.microsoft.com/office/drawing/2014/main" id="{2C4296E3-CF79-5C80-3A74-193256A330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85967" y="2359284"/>
            <a:ext cx="3200400" cy="3589020"/>
          </a:xfrm>
          <a:prstGeom prst="rect">
            <a:avLst/>
          </a:prstGeom>
          <a:noFill/>
          <a:ln>
            <a:noFill/>
          </a:ln>
        </p:spPr>
      </p:pic>
      <p:pic>
        <p:nvPicPr>
          <p:cNvPr id="5" name="Picture 4">
            <a:extLst>
              <a:ext uri="{FF2B5EF4-FFF2-40B4-BE49-F238E27FC236}">
                <a16:creationId xmlns:a16="http://schemas.microsoft.com/office/drawing/2014/main" id="{7E0794EF-E240-D1DA-A126-DA0DBE13854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19914" y="2359284"/>
            <a:ext cx="3276600" cy="2987040"/>
          </a:xfrm>
          <a:prstGeom prst="rect">
            <a:avLst/>
          </a:prstGeom>
          <a:noFill/>
          <a:ln>
            <a:noFill/>
          </a:ln>
        </p:spPr>
      </p:pic>
      <p:pic>
        <p:nvPicPr>
          <p:cNvPr id="6" name="Picture 5">
            <a:extLst>
              <a:ext uri="{FF2B5EF4-FFF2-40B4-BE49-F238E27FC236}">
                <a16:creationId xmlns:a16="http://schemas.microsoft.com/office/drawing/2014/main" id="{7BA94585-9CB3-D140-DB68-75A642D4D69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348090" y="2359284"/>
            <a:ext cx="2761940" cy="3086100"/>
          </a:xfrm>
          <a:prstGeom prst="rect">
            <a:avLst/>
          </a:prstGeom>
          <a:noFill/>
          <a:ln>
            <a:noFill/>
          </a:ln>
        </p:spPr>
      </p:pic>
    </p:spTree>
    <p:extLst>
      <p:ext uri="{BB962C8B-B14F-4D97-AF65-F5344CB8AC3E}">
        <p14:creationId xmlns:p14="http://schemas.microsoft.com/office/powerpoint/2010/main" val="12542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79C6C-BBA5-7186-0117-3F9F8A4EEE13}"/>
              </a:ext>
            </a:extLst>
          </p:cNvPr>
          <p:cNvSpPr>
            <a:spLocks noGrp="1"/>
          </p:cNvSpPr>
          <p:nvPr>
            <p:ph sz="quarter" idx="13"/>
          </p:nvPr>
        </p:nvSpPr>
        <p:spPr>
          <a:xfrm>
            <a:off x="595313" y="476250"/>
            <a:ext cx="8688646" cy="5797550"/>
          </a:xfrm>
        </p:spPr>
        <p:txBody>
          <a:bodyPr>
            <a:normAutofit/>
          </a:bodyPr>
          <a:lstStyle/>
          <a:p>
            <a:endParaRPr lang="en-US" sz="4400" b="1" dirty="0"/>
          </a:p>
          <a:p>
            <a:r>
              <a:rPr lang="en-US" sz="4400" b="1" dirty="0"/>
              <a:t>FUTURE SCOPE:</a:t>
            </a:r>
          </a:p>
          <a:p>
            <a:endParaRPr lang="en-US" sz="4400" b="1" dirty="0"/>
          </a:p>
          <a:p>
            <a:pPr algn="just"/>
            <a:r>
              <a:rPr lang="en-IN" sz="1800" dirty="0">
                <a:effectLst/>
                <a:latin typeface="Calibri" panose="020F0502020204030204" pitchFamily="34" charset="0"/>
                <a:ea typeface="Calibri" panose="020F0502020204030204" pitchFamily="34" charset="0"/>
                <a:cs typeface="Times New Roman" panose="02020603050405020304" pitchFamily="18" charset="0"/>
              </a:rPr>
              <a:t>In the future, the project aims to advance battery monitoring with techniques like Coulomb counting and impedance spectroscopy for accurate state-of-charge estimation. Additionally, enhancing the user interface through mobile apps or web portals can improve the overall experience. Remote management capabilities will enable administrators to monitor battery status and usage remotely, with analytics offering insights for optimization. Integration of IoT technology can facilitate proactive maintenance and fault detection. Further, collaboration with EV manufacturers for standardization and expansion to multiple locations will promote widespread adoption and sustainability</a:t>
            </a:r>
            <a:endParaRPr lang="en-US" sz="4400" b="1" dirty="0"/>
          </a:p>
        </p:txBody>
      </p:sp>
    </p:spTree>
    <p:extLst>
      <p:ext uri="{BB962C8B-B14F-4D97-AF65-F5344CB8AC3E}">
        <p14:creationId xmlns:p14="http://schemas.microsoft.com/office/powerpoint/2010/main" val="2929351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092DD3-3937-56C1-6C07-AB516537C6E5}"/>
              </a:ext>
            </a:extLst>
          </p:cNvPr>
          <p:cNvSpPr>
            <a:spLocks noGrp="1"/>
          </p:cNvSpPr>
          <p:nvPr>
            <p:ph sz="quarter" idx="13"/>
          </p:nvPr>
        </p:nvSpPr>
        <p:spPr>
          <a:xfrm>
            <a:off x="595522" y="485192"/>
            <a:ext cx="9369571" cy="5788803"/>
          </a:xfrm>
        </p:spPr>
        <p:txBody>
          <a:bodyPr>
            <a:normAutofit/>
          </a:bodyPr>
          <a:lstStyle/>
          <a:p>
            <a:endParaRPr lang="en-US" sz="4400" b="1" dirty="0"/>
          </a:p>
          <a:p>
            <a:r>
              <a:rPr lang="en-US" sz="4400" b="1" dirty="0"/>
              <a:t>CONCLUSION:           </a:t>
            </a:r>
          </a:p>
          <a:p>
            <a:pPr algn="just"/>
            <a:endParaRPr lang="en-IN" sz="1800" dirty="0">
              <a:effectLst/>
              <a:latin typeface="Times New Roman" panose="02020603050405020304" pitchFamily="18" charset="0"/>
              <a:ea typeface="Times New Roman" panose="02020603050405020304" pitchFamily="18" charset="0"/>
            </a:endParaRPr>
          </a:p>
          <a:p>
            <a:pPr algn="just"/>
            <a:r>
              <a:rPr lang="en-IN" sz="1800" dirty="0">
                <a:effectLst/>
                <a:latin typeface="Times New Roman" panose="02020603050405020304" pitchFamily="18" charset="0"/>
                <a:ea typeface="Times New Roman" panose="02020603050405020304" pitchFamily="18" charset="0"/>
              </a:rPr>
              <a:t>The "Energy Tag - Streamlining EV Battery Prices in Battery Swap Stations" project successfully integrates hardware and software components to create an efficient, user-friendly battery swap station. By leveraging the ESP32's capabilities, RFID technology, and </a:t>
            </a:r>
            <a:r>
              <a:rPr lang="en-IN" sz="1800" dirty="0" err="1">
                <a:effectLst/>
                <a:latin typeface="Times New Roman" panose="02020603050405020304" pitchFamily="18" charset="0"/>
                <a:ea typeface="Times New Roman" panose="02020603050405020304" pitchFamily="18" charset="0"/>
              </a:rPr>
              <a:t>WiFi</a:t>
            </a:r>
            <a:r>
              <a:rPr lang="en-IN" sz="1800" dirty="0">
                <a:effectLst/>
                <a:latin typeface="Times New Roman" panose="02020603050405020304" pitchFamily="18" charset="0"/>
                <a:ea typeface="Times New Roman" panose="02020603050405020304" pitchFamily="18" charset="0"/>
              </a:rPr>
              <a:t> connectivity, the system ensures accurate user identification, real-time transaction processing, and seamless data management. The use of LCD displays enhances the user interface, providing clear instructions and status updates. Voltage sensors and relays efficiently manage the battery charging and swapping processes, ensuring safe and reliable operation. The implementation of a web server allows for convenient slot booking and monitoring, enhancing user experience and operational efficiency. The integration with Google Sheets for data logging ensures accurate record-keeping and facilitates analysis for future improvements. Overall, the project demonstrates a robust solution for managing EV battery swaps, providing a scalable model that can be expanded and adapted for broader applications in the EV charging infrastructure. This project paves the way for more efficient energy management systems, contributing to the advancement of sustainable transportation solutions.</a:t>
            </a:r>
          </a:p>
          <a:p>
            <a:endParaRPr lang="en-IN" sz="4400" b="1" dirty="0"/>
          </a:p>
        </p:txBody>
      </p:sp>
    </p:spTree>
    <p:extLst>
      <p:ext uri="{BB962C8B-B14F-4D97-AF65-F5344CB8AC3E}">
        <p14:creationId xmlns:p14="http://schemas.microsoft.com/office/powerpoint/2010/main" val="1549039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a:lstStyle/>
          <a:p>
            <a:endParaRPr lang="en-US" dirty="0"/>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68</TotalTime>
  <Words>1000</Words>
  <Application>Microsoft Office PowerPoint</Application>
  <PresentationFormat>Widescreen</PresentationFormat>
  <Paragraphs>97</Paragraphs>
  <Slides>16</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Franklin Gothic Book</vt:lpstr>
      <vt:lpstr>Franklin Gothic Demi</vt:lpstr>
      <vt:lpstr>Times New Roman</vt:lpstr>
      <vt:lpstr>Custom</vt:lpstr>
      <vt:lpstr>“ENERGY TAG”  STREAMLINING EV BATTERY PRICING</vt:lpstr>
      <vt:lpstr>Agenda</vt:lpstr>
      <vt:lpstr>INTRODUCTION</vt:lpstr>
      <vt:lpstr>THE NEED FOR EFFICIENT BATTERY MANAGEMENT </vt:lpstr>
      <vt:lpstr>OBJECTIVES</vt:lpstr>
      <vt:lpstr>System Requirements:</vt:lpstr>
      <vt:lpstr>PowerPoint Presentation</vt:lpstr>
      <vt:lpstr>PowerPoint Presentation</vt:lpstr>
      <vt:lpstr>Block diagram</vt:lpstr>
      <vt:lpstr>PowerPoint Presentation</vt:lpstr>
      <vt:lpstr>METHODOLOGY</vt:lpstr>
      <vt:lpstr>RESULTS AND DISCUSSION: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keerthi rao</dc:creator>
  <cp:lastModifiedBy>Sindhu Hegde</cp:lastModifiedBy>
  <cp:revision>2</cp:revision>
  <dcterms:created xsi:type="dcterms:W3CDTF">2024-06-15T02:45:11Z</dcterms:created>
  <dcterms:modified xsi:type="dcterms:W3CDTF">2024-06-15T03:59:33Z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